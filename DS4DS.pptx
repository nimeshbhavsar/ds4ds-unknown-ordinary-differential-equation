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56" r:id="rId3"/>
    <p:sldId id="257" r:id="rId4"/>
    <p:sldId id="258" r:id="rId5"/>
    <p:sldId id="270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79" r:id="rId21"/>
    <p:sldId id="280" r:id="rId22"/>
    <p:sldId id="282" r:id="rId23"/>
    <p:sldId id="283" r:id="rId24"/>
    <p:sldId id="268" r:id="rId25"/>
    <p:sldId id="26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AE7"/>
    <a:srgbClr val="CAC6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C57DB-7A66-D557-7A3B-F1158809CD3E}" v="19" dt="2025-12-15T20:52:17.676"/>
    <p1510:client id="{9EAEF09D-9C6B-D083-373B-2F5FBB842D0C}" v="452" dt="2025-12-15T19:10:18.465"/>
    <p1510:client id="{B6C974F9-0D3B-37AA-7479-92B6799CACF2}" v="75" dt="2025-12-15T21:52:23.228"/>
    <p1510:client id="{D1C31BF9-F768-E6B7-3A24-C66B6881CB18}" v="2" dt="2025-12-15T21:37:43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B1EAD-4EF1-F468-0FE6-5453005EC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7984A-1791-D1EC-FB6C-72A04DB01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623DC-AD14-AA7A-AF16-8055A3BFC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4AFD8-080F-D54D-FB50-409A823A0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FEF28-A6D5-9A2E-2A68-1E6D1933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22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6103E-7442-9766-28DE-9717FFC2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05FEC-6F60-CB94-1655-9FBA232C1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9440E-F176-267C-4B4D-528D10A4A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83C13-7025-7EE3-5C70-7EE8C1F6A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0AA78-8B24-F37B-6A5C-DD459569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140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B4338-8E1B-5805-D991-DBBE25FD7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C65A3-1AB9-97CD-DE3A-7B126B9F8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6094C-D347-7D95-01CA-0788D7520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D6BFB-63BA-26F9-83A6-232D4A1DB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96456-7088-B64E-D5E6-93252A34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58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F4D48-6BEA-C029-EEB9-8D479CA7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7D1C7-2639-F00C-27BF-0CA7FF623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B811B-A4D4-BCCA-A16A-4A332E28A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4E345-9BAA-8F15-E3CD-E4E29663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E0CEE-A609-E8FF-5D32-3C0A70CD5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8CFAD-DF9F-7096-4A2A-D013EA24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21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0D97-7236-3449-E4B0-42CEDDA9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64FB-03B2-4FAA-650F-3995DD189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7BCAA-661A-E3BA-7D42-5B4552EA8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2402BD-5D96-14C5-881F-35EAD4C9F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479616-BFAC-21BC-AC09-FE54EC22E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8B169-B98D-EA5D-2ABE-A5BB212F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2B83B-2CD2-DD75-F4BD-BD0F26A1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C1B70-BE63-3F82-12ED-0998123A2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513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F20C-80B4-078F-4927-C7B139070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E1D6A-C670-9791-8BFD-A83B68F44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8AAB9F-DBDD-77EF-EE2C-0A074245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0EE164-CF20-7ECA-7ED7-8D2D6F8D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26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F6DCA-C666-D59C-1659-6AFB87AC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A20CB-71F7-409D-50EB-4A55D9B8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9BC3F-24C1-90CB-F5E7-21D53DC0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058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034D-8D4E-EE9A-DE38-819D209F5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86E84-9917-CBC2-4BE3-727170BA4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C25B2-0A94-7FA6-ADE7-5B1A5DE8F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733F1-B6F6-62F2-D142-599C0F16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F5E33-128D-9F99-4497-0C44F50E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2EF0D-2676-5C39-DE82-385221A8D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87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0F0C7-26BE-C760-EB15-D18897699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D57694-21F8-C077-2113-FACD39A244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6F0E9-0895-EE15-7CB5-7268B0972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174EC-9DFA-B1F7-D785-97C1BC53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E9214-FDFB-3C97-6CF6-5047E0DD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F8718-49DF-CCB0-7F6B-D9AB1C6A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010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81BB-44D7-29C2-BD2C-9F5ADC958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ECFD4-2F01-CEB9-7124-3D17E7204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76172-D585-7041-C985-F2D7870C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6AF17-1E2B-EB6E-D3C0-4584DE92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11A3F-9074-D587-1B4F-5408C6EA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17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62FDD8-F445-42BE-0F8E-6C304DCA65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81D73-F349-E6CE-1A28-7534013EE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48A38-D7D3-65BE-31B7-703ADAAED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F47F7-9DEC-4951-CCCF-2C6983062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83FAA-9FCD-F4F0-505E-9A56FE570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916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720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518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888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519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155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5817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942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2575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1832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4472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31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E6862-D923-0156-3498-95B1B5F2D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D2BA2-7A32-E76A-D343-5D9882F94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897DD-E233-A70B-AC3D-784217DD6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39BE6-A9E9-6968-65A0-BF3070440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24DF6-14BD-6DDA-D940-9520E063E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526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8ACC6-D14B-4EE6-A148-3607948A5133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BAB8ECF-9230-4386-9B9D-04C964EE8E32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1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148E-9212-F2AF-99BF-20C79C3BD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7363" y="989773"/>
            <a:ext cx="7197273" cy="254143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Data science</a:t>
            </a:r>
            <a:br>
              <a:rPr lang="en-US" dirty="0"/>
            </a:br>
            <a:r>
              <a:rPr lang="en-US" dirty="0"/>
              <a:t>for</a:t>
            </a:r>
            <a:br>
              <a:rPr lang="en-US" dirty="0"/>
            </a:br>
            <a:r>
              <a:rPr lang="en-US" dirty="0"/>
              <a:t>dynamical system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17676-5E91-F8EA-AC44-CD072E965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3" y="3531204"/>
            <a:ext cx="8637072" cy="1423351"/>
          </a:xfrm>
        </p:spPr>
        <p:txBody>
          <a:bodyPr vert="horz" lIns="91440" tIns="91440" rIns="91440" bIns="91440" rtlCol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dirty="0"/>
              <a:t>Finding Unknown Ordinary Differential Equation (ODE)</a:t>
            </a:r>
          </a:p>
          <a:p>
            <a:pPr algn="ctr">
              <a:lnSpc>
                <a:spcPct val="100000"/>
              </a:lnSpc>
            </a:pPr>
            <a:r>
              <a:rPr lang="en-US" dirty="0"/>
              <a:t>using</a:t>
            </a:r>
          </a:p>
          <a:p>
            <a:pPr algn="ctr">
              <a:lnSpc>
                <a:spcPct val="100000"/>
              </a:lnSpc>
            </a:pPr>
            <a:r>
              <a:rPr lang="en-US" dirty="0"/>
              <a:t>Sparse Identification of Nonlinear Dynamics (</a:t>
            </a:r>
            <a:r>
              <a:rPr lang="en-US" dirty="0" err="1"/>
              <a:t>SINDy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BB82E-7512-71A2-706D-13A0967A2DDE}"/>
              </a:ext>
            </a:extLst>
          </p:cNvPr>
          <p:cNvSpPr txBox="1"/>
          <p:nvPr/>
        </p:nvSpPr>
        <p:spPr>
          <a:xfrm>
            <a:off x="9268279" y="4927535"/>
            <a:ext cx="256851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By:</a:t>
            </a:r>
          </a:p>
          <a:p>
            <a:r>
              <a:rPr lang="en-US" dirty="0"/>
              <a:t>Nimesh Bhavsar - 280721</a:t>
            </a:r>
          </a:p>
          <a:p>
            <a:r>
              <a:rPr lang="en-US" dirty="0"/>
              <a:t>Simran Arora - 281719</a:t>
            </a:r>
          </a:p>
          <a:p>
            <a:r>
              <a:rPr lang="en-US" dirty="0"/>
              <a:t>Shyam Gupta - 259392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27664-A9E8-C75D-6232-CFF6BFC586E4}"/>
              </a:ext>
            </a:extLst>
          </p:cNvPr>
          <p:cNvSpPr txBox="1"/>
          <p:nvPr/>
        </p:nvSpPr>
        <p:spPr>
          <a:xfrm>
            <a:off x="3714540" y="4924105"/>
            <a:ext cx="47661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Under the guidance of: </a:t>
            </a:r>
          </a:p>
          <a:p>
            <a:pPr algn="ctr"/>
            <a:r>
              <a:rPr lang="en-US"/>
              <a:t>Prof. Dr. Sebastian Peitz</a:t>
            </a:r>
          </a:p>
        </p:txBody>
      </p:sp>
    </p:spTree>
    <p:extLst>
      <p:ext uri="{BB962C8B-B14F-4D97-AF65-F5344CB8AC3E}">
        <p14:creationId xmlns:p14="http://schemas.microsoft.com/office/powerpoint/2010/main" val="186694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79A0-0BBC-E9E6-4386-73CB12CB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/>
          <a:lstStyle/>
          <a:p>
            <a:r>
              <a:rPr lang="en-US" cap="none" dirty="0"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  <a:endParaRPr lang="en-GB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EE42A-4207-8609-89B5-A4DFBFCBB434}"/>
              </a:ext>
            </a:extLst>
          </p:cNvPr>
          <p:cNvSpPr txBox="1"/>
          <p:nvPr/>
        </p:nvSpPr>
        <p:spPr>
          <a:xfrm>
            <a:off x="311020" y="2195554"/>
            <a:ext cx="1054748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We are given a dataset of 200 noisy trajectories from an unknown 2D Ordinary Differential Equation (ODE)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The objective is to train a model to learn the underlying physics and predict system behavior.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The scope of this modeling is to forecast 100 steps within condition x0 between [-2,2]^2</a:t>
            </a:r>
          </a:p>
        </p:txBody>
      </p:sp>
    </p:spTree>
    <p:extLst>
      <p:ext uri="{BB962C8B-B14F-4D97-AF65-F5344CB8AC3E}">
        <p14:creationId xmlns:p14="http://schemas.microsoft.com/office/powerpoint/2010/main" val="1434295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4D87F-FD3C-F592-70B5-C90C2D380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6A7F-5B0E-51C0-2F0F-65B1BB459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>
            <a:normAutofit/>
          </a:bodyPr>
          <a:lstStyle/>
          <a:p>
            <a:r>
              <a:rPr lang="en-GB" b="1" dirty="0"/>
              <a:t>Exploratory Data </a:t>
            </a:r>
            <a:r>
              <a:rPr lang="en-US" b="1" dirty="0"/>
              <a:t>Visualization</a:t>
            </a:r>
            <a:endParaRPr lang="en-GB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1A996-2B9D-9B5B-5D4E-0D7B24146A54}"/>
              </a:ext>
            </a:extLst>
          </p:cNvPr>
          <p:cNvSpPr txBox="1"/>
          <p:nvPr/>
        </p:nvSpPr>
        <p:spPr>
          <a:xfrm>
            <a:off x="914401" y="2984538"/>
            <a:ext cx="40386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have </a:t>
            </a:r>
            <a:r>
              <a:rPr lang="en-US" sz="2400" dirty="0" err="1"/>
              <a:t>X_ode</a:t>
            </a:r>
            <a:r>
              <a:rPr lang="en-US" sz="2400" dirty="0"/>
              <a:t> </a:t>
            </a:r>
            <a:r>
              <a:rPr lang="en-GB" sz="2400" b="1" dirty="0"/>
              <a:t>∈ ℝ </a:t>
            </a:r>
            <a:r>
              <a:rPr lang="en-GB" sz="2400" b="1" baseline="30000" dirty="0"/>
              <a:t>m x N x n </a:t>
            </a:r>
          </a:p>
          <a:p>
            <a:r>
              <a:rPr lang="en-GB" dirty="0"/>
              <a:t>where,</a:t>
            </a:r>
          </a:p>
          <a:p>
            <a:r>
              <a:rPr lang="en-GB" dirty="0"/>
              <a:t>m= 200 </a:t>
            </a:r>
            <a:r>
              <a:rPr lang="en-US" dirty="0"/>
              <a:t>trajectory </a:t>
            </a:r>
          </a:p>
          <a:p>
            <a:r>
              <a:rPr lang="en-US" dirty="0"/>
              <a:t>N = 201 Step Count,</a:t>
            </a:r>
            <a:endParaRPr lang="en-GB" baseline="30000" dirty="0"/>
          </a:p>
          <a:p>
            <a:r>
              <a:rPr lang="en-GB" dirty="0"/>
              <a:t>n = 2 state dimension i.e. 2D plane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3E5A43-E29C-E27B-0933-CDDEB7000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590675"/>
            <a:ext cx="5767387" cy="4634386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4388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C9341-8CB9-2D06-1131-1B42A7B1B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B8AD7-81A4-2CEC-B3B2-6A64EC1DF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>
            <a:normAutofit/>
          </a:bodyPr>
          <a:lstStyle/>
          <a:p>
            <a:r>
              <a:rPr lang="en-GB" b="1" dirty="0"/>
              <a:t>Exploratory Data </a:t>
            </a:r>
            <a:r>
              <a:rPr lang="en-US" b="1" dirty="0"/>
              <a:t>Visualization</a:t>
            </a:r>
            <a:endParaRPr lang="en-GB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80E6F8-71BF-FF84-1484-C99D0774D588}"/>
              </a:ext>
            </a:extLst>
          </p:cNvPr>
          <p:cNvSpPr txBox="1"/>
          <p:nvPr/>
        </p:nvSpPr>
        <p:spPr>
          <a:xfrm>
            <a:off x="676275" y="1419225"/>
            <a:ext cx="6924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Position of Points at consecutive time stamps:</a:t>
            </a:r>
            <a:endParaRPr lang="en-GB" sz="2800" dirty="0"/>
          </a:p>
        </p:txBody>
      </p:sp>
      <p:pic>
        <p:nvPicPr>
          <p:cNvPr id="5" name="Picture 4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56EB3817-64D3-3A52-5B1D-5CE5331CF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930" y="2104616"/>
            <a:ext cx="5672138" cy="4557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51734F-A655-90A4-4CA4-BAAA6DBA68A0}"/>
              </a:ext>
            </a:extLst>
          </p:cNvPr>
          <p:cNvSpPr txBox="1"/>
          <p:nvPr/>
        </p:nvSpPr>
        <p:spPr>
          <a:xfrm>
            <a:off x="9370980" y="4205857"/>
            <a:ext cx="15039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@ N=1</a:t>
            </a:r>
          </a:p>
        </p:txBody>
      </p:sp>
    </p:spTree>
    <p:extLst>
      <p:ext uri="{BB962C8B-B14F-4D97-AF65-F5344CB8AC3E}">
        <p14:creationId xmlns:p14="http://schemas.microsoft.com/office/powerpoint/2010/main" val="1367695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0001C-0711-E4BE-BE0C-3E394A01F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C0616-DD24-47BA-05A6-A87CED1B0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>
            <a:normAutofit/>
          </a:bodyPr>
          <a:lstStyle/>
          <a:p>
            <a:r>
              <a:rPr lang="en-GB" b="1" dirty="0"/>
              <a:t>Exploratory Data </a:t>
            </a:r>
            <a:r>
              <a:rPr lang="en-US" b="1" dirty="0"/>
              <a:t>Visualization</a:t>
            </a:r>
            <a:endParaRPr lang="en-GB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6E703-13B2-749F-F71B-2211580AAEB9}"/>
              </a:ext>
            </a:extLst>
          </p:cNvPr>
          <p:cNvSpPr txBox="1"/>
          <p:nvPr/>
        </p:nvSpPr>
        <p:spPr>
          <a:xfrm>
            <a:off x="676275" y="1419225"/>
            <a:ext cx="6924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Position of Points at consecutive time stamps:</a:t>
            </a:r>
            <a:endParaRPr lang="en-GB" sz="2800" dirty="0"/>
          </a:p>
        </p:txBody>
      </p:sp>
      <p:pic>
        <p:nvPicPr>
          <p:cNvPr id="5" name="Picture 4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31231287-B9F4-456A-8957-0008052F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930" y="2104616"/>
            <a:ext cx="5672138" cy="4557848"/>
          </a:xfrm>
          <a:prstGeom prst="rect">
            <a:avLst/>
          </a:prstGeom>
        </p:spPr>
      </p:pic>
      <p:pic>
        <p:nvPicPr>
          <p:cNvPr id="6" name="Picture 5" descr="A group of colorful dots&#10;&#10;AI-generated content may be incorrect.">
            <a:extLst>
              <a:ext uri="{FF2B5EF4-FFF2-40B4-BE49-F238E27FC236}">
                <a16:creationId xmlns:a16="http://schemas.microsoft.com/office/drawing/2014/main" id="{6A220B6A-2C7C-B8AC-9FB2-2840762DA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930" y="2104616"/>
            <a:ext cx="5672138" cy="45578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BC8077-FECD-61E5-646C-F5DDFCD04E8A}"/>
              </a:ext>
            </a:extLst>
          </p:cNvPr>
          <p:cNvSpPr txBox="1"/>
          <p:nvPr/>
        </p:nvSpPr>
        <p:spPr>
          <a:xfrm>
            <a:off x="9370980" y="4205857"/>
            <a:ext cx="15039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@ N=5</a:t>
            </a:r>
          </a:p>
        </p:txBody>
      </p:sp>
    </p:spTree>
    <p:extLst>
      <p:ext uri="{BB962C8B-B14F-4D97-AF65-F5344CB8AC3E}">
        <p14:creationId xmlns:p14="http://schemas.microsoft.com/office/powerpoint/2010/main" val="698568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94D6-9F20-419A-9D77-A9929A97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A8F0-DE9F-B5D1-D5F9-F4AD2086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>
            <a:normAutofit/>
          </a:bodyPr>
          <a:lstStyle/>
          <a:p>
            <a:r>
              <a:rPr lang="en-GB" b="1" dirty="0"/>
              <a:t>Exploratory Data </a:t>
            </a:r>
            <a:r>
              <a:rPr lang="en-US" b="1" dirty="0"/>
              <a:t>Visualization</a:t>
            </a:r>
            <a:endParaRPr lang="en-GB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06C16-1F24-4A45-9F85-222A8D41E654}"/>
              </a:ext>
            </a:extLst>
          </p:cNvPr>
          <p:cNvSpPr txBox="1"/>
          <p:nvPr/>
        </p:nvSpPr>
        <p:spPr>
          <a:xfrm>
            <a:off x="676275" y="1419225"/>
            <a:ext cx="6924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Position of Points at consecutive time stamps:</a:t>
            </a:r>
            <a:endParaRPr lang="en-GB" sz="2800" dirty="0"/>
          </a:p>
        </p:txBody>
      </p:sp>
      <p:pic>
        <p:nvPicPr>
          <p:cNvPr id="5" name="Picture 4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E2D416CF-98E8-DC37-3F6D-F2841503A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930" y="2104616"/>
            <a:ext cx="5672138" cy="4557848"/>
          </a:xfrm>
          <a:prstGeom prst="rect">
            <a:avLst/>
          </a:prstGeom>
        </p:spPr>
      </p:pic>
      <p:pic>
        <p:nvPicPr>
          <p:cNvPr id="6" name="Picture 5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4B0594B2-3EFD-99AF-D0FC-D40822711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930" y="2104616"/>
            <a:ext cx="5672478" cy="45581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B134D3-F3AD-C346-D551-7C239AAA9F46}"/>
              </a:ext>
            </a:extLst>
          </p:cNvPr>
          <p:cNvSpPr txBox="1"/>
          <p:nvPr/>
        </p:nvSpPr>
        <p:spPr>
          <a:xfrm>
            <a:off x="9370980" y="4205857"/>
            <a:ext cx="15039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@ N=10</a:t>
            </a:r>
          </a:p>
        </p:txBody>
      </p:sp>
    </p:spTree>
    <p:extLst>
      <p:ext uri="{BB962C8B-B14F-4D97-AF65-F5344CB8AC3E}">
        <p14:creationId xmlns:p14="http://schemas.microsoft.com/office/powerpoint/2010/main" val="3042692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AFB66-CA28-C6E7-2602-CE1D66C12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B456A-21BF-8302-4C97-0A67E48FD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>
            <a:normAutofit/>
          </a:bodyPr>
          <a:lstStyle/>
          <a:p>
            <a:r>
              <a:rPr lang="en-GB" b="1" dirty="0"/>
              <a:t>Exploratory Data </a:t>
            </a:r>
            <a:r>
              <a:rPr lang="en-US" b="1" dirty="0"/>
              <a:t>Visualization</a:t>
            </a:r>
            <a:endParaRPr lang="en-GB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B4BA1-1E39-9C4A-1DA9-F906248F32B4}"/>
              </a:ext>
            </a:extLst>
          </p:cNvPr>
          <p:cNvSpPr txBox="1"/>
          <p:nvPr/>
        </p:nvSpPr>
        <p:spPr>
          <a:xfrm>
            <a:off x="676275" y="1419225"/>
            <a:ext cx="6924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Position of Points at consecutive time stamps:</a:t>
            </a:r>
            <a:endParaRPr lang="en-GB" sz="2800" dirty="0"/>
          </a:p>
        </p:txBody>
      </p:sp>
      <p:pic>
        <p:nvPicPr>
          <p:cNvPr id="5" name="Picture 4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675D3670-C4D9-4188-CD38-B9B7DF426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930" y="2104616"/>
            <a:ext cx="5672138" cy="4557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46F557-FB7E-77F6-D1BC-35D0D2691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590" y="2104343"/>
            <a:ext cx="5672478" cy="4558121"/>
          </a:xfrm>
          <a:prstGeom prst="rect">
            <a:avLst/>
          </a:prstGeom>
        </p:spPr>
      </p:pic>
      <p:pic>
        <p:nvPicPr>
          <p:cNvPr id="8" name="Picture 7" descr="A colorful dots in a white background&#10;&#10;AI-generated content may be incorrect.">
            <a:extLst>
              <a:ext uri="{FF2B5EF4-FFF2-40B4-BE49-F238E27FC236}">
                <a16:creationId xmlns:a16="http://schemas.microsoft.com/office/drawing/2014/main" id="{D152CA2D-2EDA-3B6A-FE6D-B21B16BCE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251" y="2104070"/>
            <a:ext cx="5672817" cy="4558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2A9CC5-1F82-D9F1-9507-29F84FC89DEC}"/>
              </a:ext>
            </a:extLst>
          </p:cNvPr>
          <p:cNvSpPr txBox="1"/>
          <p:nvPr/>
        </p:nvSpPr>
        <p:spPr>
          <a:xfrm>
            <a:off x="9370980" y="4205857"/>
            <a:ext cx="15039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@ N=25</a:t>
            </a:r>
          </a:p>
        </p:txBody>
      </p:sp>
    </p:spTree>
    <p:extLst>
      <p:ext uri="{BB962C8B-B14F-4D97-AF65-F5344CB8AC3E}">
        <p14:creationId xmlns:p14="http://schemas.microsoft.com/office/powerpoint/2010/main" val="138215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DA0CB-1B18-02D8-403A-1D4C45A3C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29D5B-4497-508F-5AA8-FCBDEC41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>
            <a:normAutofit/>
          </a:bodyPr>
          <a:lstStyle/>
          <a:p>
            <a:r>
              <a:rPr lang="en-GB" b="1" dirty="0"/>
              <a:t>Exploratory Data </a:t>
            </a:r>
            <a:r>
              <a:rPr lang="en-US" b="1" dirty="0"/>
              <a:t>Visualization</a:t>
            </a:r>
            <a:endParaRPr lang="en-GB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775F8-8EFF-7B51-2018-F1374C77F910}"/>
              </a:ext>
            </a:extLst>
          </p:cNvPr>
          <p:cNvSpPr txBox="1"/>
          <p:nvPr/>
        </p:nvSpPr>
        <p:spPr>
          <a:xfrm>
            <a:off x="676275" y="1419225"/>
            <a:ext cx="6924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Position of Points at consecutive time stamps:</a:t>
            </a:r>
            <a:endParaRPr lang="en-GB" sz="2800" dirty="0"/>
          </a:p>
        </p:txBody>
      </p:sp>
      <p:pic>
        <p:nvPicPr>
          <p:cNvPr id="5" name="Picture 4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BA20BA69-57E4-97F3-DB93-602B218B9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930" y="2104616"/>
            <a:ext cx="5672138" cy="4557848"/>
          </a:xfrm>
          <a:prstGeom prst="rect">
            <a:avLst/>
          </a:prstGeom>
        </p:spPr>
      </p:pic>
      <p:pic>
        <p:nvPicPr>
          <p:cNvPr id="7" name="Picture 6" descr="A colorful dots in a white background&#10;&#10;AI-generated content may be incorrect.">
            <a:extLst>
              <a:ext uri="{FF2B5EF4-FFF2-40B4-BE49-F238E27FC236}">
                <a16:creationId xmlns:a16="http://schemas.microsoft.com/office/drawing/2014/main" id="{99C4571F-31F5-6625-1A31-553C133A2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930" y="2104616"/>
            <a:ext cx="5672478" cy="4558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F373F7-C834-5CC6-6992-311929640B46}"/>
              </a:ext>
            </a:extLst>
          </p:cNvPr>
          <p:cNvSpPr txBox="1"/>
          <p:nvPr/>
        </p:nvSpPr>
        <p:spPr>
          <a:xfrm>
            <a:off x="9370980" y="4205857"/>
            <a:ext cx="15039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@ N=65</a:t>
            </a:r>
          </a:p>
        </p:txBody>
      </p:sp>
    </p:spTree>
    <p:extLst>
      <p:ext uri="{BB962C8B-B14F-4D97-AF65-F5344CB8AC3E}">
        <p14:creationId xmlns:p14="http://schemas.microsoft.com/office/powerpoint/2010/main" val="98986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993A5-6396-D3CF-8F46-F21DC7F9A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A9E77-98B5-DC35-D70B-B7B49C564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>
            <a:normAutofit/>
          </a:bodyPr>
          <a:lstStyle/>
          <a:p>
            <a:r>
              <a:rPr lang="en-GB" b="1" dirty="0"/>
              <a:t>Exploratory Data </a:t>
            </a:r>
            <a:r>
              <a:rPr lang="en-US" b="1" dirty="0"/>
              <a:t>Visualization</a:t>
            </a:r>
            <a:endParaRPr lang="en-GB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79D43C-9159-18C6-5322-3CF54C7BE7F5}"/>
              </a:ext>
            </a:extLst>
          </p:cNvPr>
          <p:cNvSpPr txBox="1"/>
          <p:nvPr/>
        </p:nvSpPr>
        <p:spPr>
          <a:xfrm>
            <a:off x="676275" y="1419225"/>
            <a:ext cx="6924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Position of Points at consecutive time stamps:</a:t>
            </a:r>
            <a:endParaRPr lang="en-GB" sz="2800" dirty="0"/>
          </a:p>
        </p:txBody>
      </p:sp>
      <p:pic>
        <p:nvPicPr>
          <p:cNvPr id="5" name="Picture 4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6931AB48-836E-4DB2-F09D-6BD5B7D8E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930" y="2104616"/>
            <a:ext cx="5672138" cy="4557848"/>
          </a:xfrm>
          <a:prstGeom prst="rect">
            <a:avLst/>
          </a:prstGeom>
        </p:spPr>
      </p:pic>
      <p:pic>
        <p:nvPicPr>
          <p:cNvPr id="7" name="Picture 6" descr="A colorful dots in a white background&#10;&#10;AI-generated content may be incorrect.">
            <a:extLst>
              <a:ext uri="{FF2B5EF4-FFF2-40B4-BE49-F238E27FC236}">
                <a16:creationId xmlns:a16="http://schemas.microsoft.com/office/drawing/2014/main" id="{C32DBAF7-B998-FDFF-658A-D6317B455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930" y="2104616"/>
            <a:ext cx="5672139" cy="4557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D12ED9-EB1E-2C84-3286-21DC71359472}"/>
              </a:ext>
            </a:extLst>
          </p:cNvPr>
          <p:cNvSpPr txBox="1"/>
          <p:nvPr/>
        </p:nvSpPr>
        <p:spPr>
          <a:xfrm>
            <a:off x="9370980" y="4205857"/>
            <a:ext cx="15039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@ N=100</a:t>
            </a:r>
          </a:p>
        </p:txBody>
      </p:sp>
    </p:spTree>
    <p:extLst>
      <p:ext uri="{BB962C8B-B14F-4D97-AF65-F5344CB8AC3E}">
        <p14:creationId xmlns:p14="http://schemas.microsoft.com/office/powerpoint/2010/main" val="112250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41430-D251-754B-0509-BE3B4C9D1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FE587-2E24-E157-EF91-1FDE7C35D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>
            <a:normAutofit/>
          </a:bodyPr>
          <a:lstStyle/>
          <a:p>
            <a:r>
              <a:rPr lang="en-GB" b="1" dirty="0"/>
              <a:t>Exploratory Data </a:t>
            </a:r>
            <a:r>
              <a:rPr lang="en-US" b="1" dirty="0"/>
              <a:t>Visualization</a:t>
            </a:r>
            <a:endParaRPr lang="en-GB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DEFCB-4ED7-560C-EB3F-199ED269888E}"/>
              </a:ext>
            </a:extLst>
          </p:cNvPr>
          <p:cNvSpPr txBox="1"/>
          <p:nvPr/>
        </p:nvSpPr>
        <p:spPr>
          <a:xfrm>
            <a:off x="676275" y="1419225"/>
            <a:ext cx="6924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Position of Points at consecutive time stamps:</a:t>
            </a:r>
            <a:endParaRPr lang="en-GB" sz="2800" dirty="0"/>
          </a:p>
        </p:txBody>
      </p:sp>
      <p:pic>
        <p:nvPicPr>
          <p:cNvPr id="5" name="Picture 4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CF16329B-D7C3-654C-73FE-86FA7AFAC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930" y="2104616"/>
            <a:ext cx="5672138" cy="4557848"/>
          </a:xfrm>
          <a:prstGeom prst="rect">
            <a:avLst/>
          </a:prstGeom>
        </p:spPr>
      </p:pic>
      <p:pic>
        <p:nvPicPr>
          <p:cNvPr id="6" name="Picture 5" descr="A colorful swirls of dots&#10;&#10;AI-generated content may be incorrect.">
            <a:extLst>
              <a:ext uri="{FF2B5EF4-FFF2-40B4-BE49-F238E27FC236}">
                <a16:creationId xmlns:a16="http://schemas.microsoft.com/office/drawing/2014/main" id="{46AA6142-69EE-5361-CB70-0EDDDD73C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930" y="2104616"/>
            <a:ext cx="5672138" cy="45578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85B398-14A3-6CDB-8789-D41EE13FCF55}"/>
              </a:ext>
            </a:extLst>
          </p:cNvPr>
          <p:cNvSpPr txBox="1"/>
          <p:nvPr/>
        </p:nvSpPr>
        <p:spPr>
          <a:xfrm>
            <a:off x="9370980" y="4205857"/>
            <a:ext cx="15039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@ N=200</a:t>
            </a:r>
          </a:p>
        </p:txBody>
      </p:sp>
    </p:spTree>
    <p:extLst>
      <p:ext uri="{BB962C8B-B14F-4D97-AF65-F5344CB8AC3E}">
        <p14:creationId xmlns:p14="http://schemas.microsoft.com/office/powerpoint/2010/main" val="746517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06AA3-C7C0-3302-2FBD-5DD910866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AC53-E79C-A3CB-9906-08059CC05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>
            <a:normAutofit/>
          </a:bodyPr>
          <a:lstStyle/>
          <a:p>
            <a:r>
              <a:rPr lang="en-GB" b="1" dirty="0"/>
              <a:t>Exploratory Data </a:t>
            </a:r>
            <a:r>
              <a:rPr lang="en-US" b="1" dirty="0"/>
              <a:t>Visualization</a:t>
            </a:r>
            <a:endParaRPr lang="en-GB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5A30EA-8D2E-0361-0637-2C6304A3F692}"/>
              </a:ext>
            </a:extLst>
          </p:cNvPr>
          <p:cNvSpPr txBox="1"/>
          <p:nvPr/>
        </p:nvSpPr>
        <p:spPr>
          <a:xfrm>
            <a:off x="676275" y="1419225"/>
            <a:ext cx="6924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Position of Points at consecutive time stamps:</a:t>
            </a:r>
            <a:endParaRPr lang="en-GB" sz="2800" dirty="0"/>
          </a:p>
        </p:txBody>
      </p:sp>
      <p:pic>
        <p:nvPicPr>
          <p:cNvPr id="6" name="Picture 5" descr="A colorful swirls of dots&#10;&#10;AI-generated content may be incorrect.">
            <a:extLst>
              <a:ext uri="{FF2B5EF4-FFF2-40B4-BE49-F238E27FC236}">
                <a16:creationId xmlns:a16="http://schemas.microsoft.com/office/drawing/2014/main" id="{AE0C4C15-1386-5957-73B4-41B518FC6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104616"/>
            <a:ext cx="5672138" cy="45578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280455-8353-13D0-5514-5C26A60C82CC}"/>
              </a:ext>
            </a:extLst>
          </p:cNvPr>
          <p:cNvSpPr txBox="1"/>
          <p:nvPr/>
        </p:nvSpPr>
        <p:spPr>
          <a:xfrm>
            <a:off x="6467476" y="2105731"/>
            <a:ext cx="5238750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What do we see?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trajectory is observed to be smooth and has a continuous pattern.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pattern is observed to have a clear non-linear dynamical behavior.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Each point is travelling in inward spiral motion towards stable Equilibrium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structure across all trajectories is consistent.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is evident that there is Gaussian noise present in individual paths.</a:t>
            </a:r>
          </a:p>
        </p:txBody>
      </p:sp>
      <p:pic>
        <p:nvPicPr>
          <p:cNvPr id="10" name="Picture 9" descr="A graph with blue lines&#10;&#10;AI-generated content may be incorrect.">
            <a:extLst>
              <a:ext uri="{FF2B5EF4-FFF2-40B4-BE49-F238E27FC236}">
                <a16:creationId xmlns:a16="http://schemas.microsoft.com/office/drawing/2014/main" id="{7FCEABDB-67FA-AF58-6256-62F67D3FB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315" y="4714960"/>
            <a:ext cx="2460911" cy="194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11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50288-1395-9FA4-35E0-5D812EF99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DA226-9D73-758B-C873-3AD89E1D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/>
          <a:lstStyle/>
          <a:p>
            <a:r>
              <a:rPr lang="en-GB" b="1" dirty="0" err="1"/>
              <a:t>SINDy</a:t>
            </a:r>
            <a:r>
              <a:rPr lang="en-GB" b="1" dirty="0"/>
              <a:t> Methodology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879349-8EFC-84E9-282D-2A7688125AFD}"/>
                  </a:ext>
                </a:extLst>
              </p:cNvPr>
              <p:cNvSpPr txBox="1"/>
              <p:nvPr/>
            </p:nvSpPr>
            <p:spPr>
              <a:xfrm>
                <a:off x="311020" y="1336433"/>
                <a:ext cx="11308702" cy="5198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Goal: </a:t>
                </a:r>
              </a:p>
              <a:p>
                <a:r>
                  <a:rPr lang="en-US" b="1" dirty="0"/>
                  <a:t>	</a:t>
                </a:r>
                <a:r>
                  <a:rPr lang="en-US" dirty="0"/>
                  <a:t>Identify sparse governing equations for </a:t>
                </a:r>
                <a:r>
                  <a:rPr lang="en-GB" i="1" dirty="0"/>
                  <a:t>x</a:t>
                </a:r>
                <a:r>
                  <a:rPr lang="en-GB" dirty="0"/>
                  <a:t>˙=</a:t>
                </a:r>
                <a:r>
                  <a:rPr lang="en-GB" i="1" dirty="0"/>
                  <a:t>f</a:t>
                </a:r>
                <a:r>
                  <a:rPr lang="en-GB" dirty="0"/>
                  <a:t>(</a:t>
                </a:r>
                <a:r>
                  <a:rPr lang="en-GB" i="1" dirty="0"/>
                  <a:t>x</a:t>
                </a:r>
                <a:r>
                  <a:rPr lang="en-GB" dirty="0"/>
                  <a:t>) </a:t>
                </a:r>
                <a:r>
                  <a:rPr lang="en-US" dirty="0"/>
                  <a:t>directly from noisy trajectory data.</a:t>
                </a:r>
              </a:p>
              <a:p>
                <a:r>
                  <a:rPr lang="en-GB" b="1" dirty="0"/>
                  <a:t>Pipeline:</a:t>
                </a:r>
              </a:p>
              <a:p>
                <a:pPr lvl="1"/>
                <a:r>
                  <a:rPr lang="en-GB" dirty="0"/>
                  <a:t>Derivatives: Estimate </a:t>
                </a:r>
                <a:r>
                  <a:rPr lang="ar-AE" dirty="0"/>
                  <a:t> 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GB" dirty="0"/>
                  <a:t> via central differences: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GB" dirty="0"/>
              </a:p>
              <a:p>
                <a:pPr lvl="1"/>
                <a:r>
                  <a:rPr lang="en-GB" dirty="0"/>
                  <a:t>Library: Build feature matrix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ar-AE" dirty="0"/>
                  <a:t> </a:t>
                </a:r>
                <a:r>
                  <a:rPr lang="en-GB" dirty="0"/>
                  <a:t> from candidate functions (constant, linear, quadratic, cubic).</a:t>
                </a:r>
              </a:p>
              <a:p>
                <a:pPr lvl="1"/>
                <a:endParaRPr lang="en-GB" dirty="0"/>
              </a:p>
              <a:p>
                <a:pPr lvl="1"/>
                <a:r>
                  <a:rPr lang="en-GB" dirty="0"/>
                  <a:t>Sparse Regression: Solve for coefficients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𝛯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using LASSO to enforce sparsity.</a:t>
                </a:r>
              </a:p>
              <a:p>
                <a:pPr lvl="1"/>
                <a:endParaRPr lang="en-GB" dirty="0"/>
              </a:p>
              <a:p>
                <a:r>
                  <a:rPr lang="en-GB" b="1" dirty="0"/>
                  <a:t>Model Form: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GB" dirty="0"/>
                  <a:t> </a:t>
                </a:r>
                <a:r>
                  <a:rPr lang="en-US" dirty="0"/>
                  <a:t>≈ Θ(</a:t>
                </a:r>
                <a:r>
                  <a:rPr lang="en-US" i="1" dirty="0"/>
                  <a:t>X</a:t>
                </a:r>
                <a:r>
                  <a:rPr lang="en-US" dirty="0"/>
                  <a:t>) Ξ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Each column of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𝛯</m:t>
                    </m:r>
                  </m:oMath>
                </a14:m>
                <a:r>
                  <a:rPr lang="en-US" dirty="0"/>
                  <a:t> encodes active terms for one state variable’s dynamics.</a:t>
                </a:r>
              </a:p>
              <a:p>
                <a:endParaRPr lang="en-GB" b="1" dirty="0"/>
              </a:p>
              <a:p>
                <a:r>
                  <a:rPr lang="en-GB" b="1" dirty="0"/>
                  <a:t>Optimization:</a:t>
                </a:r>
              </a:p>
              <a:p>
                <a:pPr lvl="1"/>
                <a:r>
                  <a:rPr lang="en-GB" dirty="0"/>
                  <a:t>Minimize 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𝛩</m:t>
                    </m:r>
                    <m:r>
                      <m:rPr>
                        <m:nor/>
                      </m:rPr>
                      <a:rPr lang="en-GB" i="1"/>
                      <m:t> 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𝛯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𝛯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ar-AE" dirty="0"/>
              </a:p>
              <a:p>
                <a:pPr lvl="1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ar-AE" dirty="0"/>
                  <a:t> </a:t>
                </a:r>
                <a:r>
                  <a:rPr lang="en-GB" dirty="0"/>
                  <a:t>controls sparsity; larger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 → fewer active terms.</a:t>
                </a:r>
                <a:endParaRPr lang="en-GB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879349-8EFC-84E9-282D-2A7688125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20" y="1336433"/>
                <a:ext cx="11308702" cy="5198411"/>
              </a:xfrm>
              <a:prstGeom prst="rect">
                <a:avLst/>
              </a:prstGeom>
              <a:blipFill>
                <a:blip r:embed="rId2"/>
                <a:stretch>
                  <a:fillRect l="-431" t="-586" b="-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4102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16461-E6D8-9E26-CCA3-2165BA9B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926B-9458-EAF0-CA1C-3B17F08F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/>
          <a:lstStyle/>
          <a:p>
            <a:r>
              <a:rPr lang="en-GB" b="1" dirty="0"/>
              <a:t>Step 1 - Derivative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6C33F3-EBB5-1984-E71F-B26A6577440D}"/>
                  </a:ext>
                </a:extLst>
              </p:cNvPr>
              <p:cNvSpPr txBox="1"/>
              <p:nvPr/>
            </p:nvSpPr>
            <p:spPr>
              <a:xfrm>
                <a:off x="501521" y="1748566"/>
                <a:ext cx="11379458" cy="47585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1" dirty="0"/>
                  <a:t>Objective:</a:t>
                </a:r>
                <a:r>
                  <a:rPr lang="en-GB" dirty="0"/>
                  <a:t> Estimate velocities 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ar-AE" dirty="0"/>
                  <a:t> </a:t>
                </a:r>
                <a:r>
                  <a:rPr lang="en-GB" dirty="0"/>
                  <a:t>from discrete, noisy trajectories to supervise </a:t>
                </a:r>
                <a:r>
                  <a:rPr lang="en-GB" dirty="0" err="1"/>
                  <a:t>SINDy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b="1" dirty="0"/>
                  <a:t>Method (Central Difference):</a:t>
                </a:r>
                <a:r>
                  <a:rPr lang="en-GB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ar-AE" dirty="0"/>
                  <a:t> </a:t>
                </a:r>
                <a:r>
                  <a:rPr lang="en-GB" dirty="0"/>
                  <a:t>for interior points; avoids bias of forward/backward schemes.</a:t>
                </a:r>
              </a:p>
              <a:p>
                <a:br>
                  <a:rPr lang="en-GB" dirty="0"/>
                </a:br>
                <a:r>
                  <a:rPr lang="en-US" b="1" dirty="0"/>
                  <a:t>Why Central Difference:</a:t>
                </a:r>
                <a:endParaRPr lang="en-US" dirty="0"/>
              </a:p>
              <a:p>
                <a:pPr lvl="1"/>
                <a:r>
                  <a:rPr lang="en-US" b="1" dirty="0"/>
                  <a:t>Accuracy:</a:t>
                </a:r>
                <a:r>
                  <a:rPr lang="en-US" dirty="0"/>
                  <a:t> Second-order accurate in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b="1" dirty="0"/>
                  <a:t>Robustness:</a:t>
                </a:r>
                <a:r>
                  <a:rPr lang="en-US" dirty="0"/>
                  <a:t> Lower truncation error; better under moderate noise than one-sided differences.</a:t>
                </a:r>
              </a:p>
              <a:p>
                <a:endParaRPr lang="en-US" dirty="0"/>
              </a:p>
              <a:p>
                <a:r>
                  <a:rPr lang="en-GB" b="1" dirty="0"/>
                  <a:t>Data Shaping:</a:t>
                </a:r>
                <a:endParaRPr lang="en-GB" dirty="0"/>
              </a:p>
              <a:p>
                <a:pPr lvl="1"/>
                <a:r>
                  <a:rPr lang="en-GB" b="1" dirty="0"/>
                  <a:t>Inputs:</a:t>
                </a:r>
                <a:r>
                  <a:rPr lang="en-GB" dirty="0"/>
                  <a:t>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/>
                  <a:t> </a:t>
                </a:r>
                <a:r>
                  <a:rPr lang="en-GB" dirty="0"/>
                  <a:t>with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 trajectories,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dirty="0"/>
                  <a:t> steps,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 states.</a:t>
                </a:r>
              </a:p>
              <a:p>
                <a:pPr lvl="1"/>
                <a:r>
                  <a:rPr lang="en-GB" b="1" dirty="0"/>
                  <a:t>Outputs:</a:t>
                </a:r>
                <a:r>
                  <a:rPr lang="en-GB" dirty="0"/>
                  <a:t> Flattened matrices</a:t>
                </a:r>
              </a:p>
              <a:p>
                <a:pPr lvl="1"/>
                <a:endParaRPr lang="en-GB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nor/>
                          </m:rPr>
                          <a:rPr lang="en-GB" i="1"/>
                          <m:t>flat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/>
                  <a:t> </a:t>
                </a:r>
                <a:r>
                  <a:rPr lang="en-GB" dirty="0"/>
                  <a:t>with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nor/>
                      </m:rPr>
                      <a:rPr lang="en-GB" i="1"/>
                      <m:t>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endParaRPr lang="ar-AE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m:rPr>
                            <m:nor/>
                          </m:rPr>
                          <a:rPr lang="en-GB" i="1"/>
                          <m:t>flat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/>
                  <a:t> </a:t>
                </a:r>
                <a:r>
                  <a:rPr lang="en-GB" dirty="0"/>
                  <a:t>aligned per sample.</a:t>
                </a:r>
                <a:br>
                  <a:rPr lang="en-US" dirty="0"/>
                </a:br>
                <a:endParaRPr lang="en-GB" b="0" i="0" dirty="0">
                  <a:solidFill>
                    <a:srgbClr val="CCCCCC"/>
                  </a:solidFill>
                  <a:effectLst/>
                  <a:latin typeface="Segoe WPC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6C33F3-EBB5-1984-E71F-B26A65774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21" y="1748566"/>
                <a:ext cx="11379458" cy="4758547"/>
              </a:xfrm>
              <a:prstGeom prst="rect">
                <a:avLst/>
              </a:prstGeom>
              <a:blipFill>
                <a:blip r:embed="rId2"/>
                <a:stretch>
                  <a:fillRect l="-428" t="-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9333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1786A-81E5-7A1D-E335-6AF866536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CA163-51F1-5FBC-7E84-849578B87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/>
          <a:lstStyle/>
          <a:p>
            <a:r>
              <a:rPr lang="en-GB" b="1" dirty="0"/>
              <a:t>Step 2 - Library 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EF6CE3-B878-FFA8-96C8-DE17F0D944DF}"/>
                  </a:ext>
                </a:extLst>
              </p:cNvPr>
              <p:cNvSpPr txBox="1"/>
              <p:nvPr/>
            </p:nvSpPr>
            <p:spPr>
              <a:xfrm>
                <a:off x="311019" y="1521099"/>
                <a:ext cx="11772123" cy="3176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1" dirty="0"/>
                  <a:t>Purpose:</a:t>
                </a:r>
                <a:r>
                  <a:rPr lang="en-GB" dirty="0"/>
                  <a:t> </a:t>
                </a:r>
              </a:p>
              <a:p>
                <a:r>
                  <a:rPr lang="en-GB" dirty="0"/>
                  <a:t>	Build the feature matrix </a:t>
                </a:r>
                <a:r>
                  <a:rPr lang="el-GR" dirty="0"/>
                  <a:t>Θ(</a:t>
                </a:r>
                <a:r>
                  <a:rPr lang="en-GB" dirty="0"/>
                  <a:t>X) from candidate functions of the state to approximate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  <a:endParaRPr lang="en-US" dirty="0">
                  <a:solidFill>
                    <a:srgbClr val="CCCCCC"/>
                  </a:solidFill>
                  <a:latin typeface="Segoe WPC"/>
                </a:endParaRPr>
              </a:p>
              <a:p>
                <a:endParaRPr lang="en-GB" b="1" dirty="0"/>
              </a:p>
              <a:p>
                <a:r>
                  <a:rPr lang="en-GB" b="1" dirty="0"/>
                  <a:t>Design Choices:</a:t>
                </a:r>
              </a:p>
              <a:p>
                <a:endParaRPr lang="en-GB" b="1" dirty="0"/>
              </a:p>
              <a:p>
                <a:pPr lvl="1"/>
                <a:r>
                  <a:rPr lang="en-GB" b="1" dirty="0">
                    <a:effectLst/>
                  </a:rPr>
                  <a:t>Constant:</a:t>
                </a:r>
                <a:r>
                  <a:rPr lang="en-GB" dirty="0">
                    <a:effectLst/>
                  </a:rPr>
                  <a:t> 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dirty="0">
                  <a:effectLst/>
                </a:endParaRPr>
              </a:p>
              <a:p>
                <a:pPr lvl="1"/>
                <a:r>
                  <a:rPr lang="en-GB" b="1" dirty="0">
                    <a:effectLst/>
                  </a:rPr>
                  <a:t>Linear:</a:t>
                </a:r>
                <a:r>
                  <a:rPr lang="en-GB" dirty="0">
                    <a:effectLst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>
                  <a:effectLst/>
                </a:endParaRPr>
              </a:p>
              <a:p>
                <a:pPr lvl="1"/>
                <a:r>
                  <a:rPr lang="en-GB" b="1" dirty="0">
                    <a:effectLst/>
                  </a:rPr>
                  <a:t>Quadratic:</a:t>
                </a:r>
                <a:r>
                  <a:rPr lang="en-GB" dirty="0">
                    <a:effectLst/>
                  </a:rPr>
                  <a:t>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>
                  <a:effectLst/>
                </a:endParaRPr>
              </a:p>
              <a:p>
                <a:pPr lvl="1"/>
                <a:r>
                  <a:rPr lang="en-GB" b="1" dirty="0">
                    <a:effectLst/>
                  </a:rPr>
                  <a:t>Cubic:</a:t>
                </a:r>
                <a:r>
                  <a:rPr lang="en-GB" dirty="0">
                    <a:effectLst/>
                  </a:rPr>
                  <a:t>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sSubSup>
                      <m:sSubSup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b="1" dirty="0"/>
                  <a:t>Optional: </a:t>
                </a:r>
                <a:r>
                  <a:rPr lang="en-US" dirty="0"/>
                  <a:t>sin(</a:t>
                </a:r>
                <a:r>
                  <a:rPr lang="en-US" dirty="0" err="1"/>
                  <a:t>x_i</a:t>
                </a:r>
                <a:r>
                  <a:rPr lang="en-US" dirty="0"/>
                  <a:t>) (not used here)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EF6CE3-B878-FFA8-96C8-DE17F0D94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19" y="1521099"/>
                <a:ext cx="11772123" cy="3176319"/>
              </a:xfrm>
              <a:prstGeom prst="rect">
                <a:avLst/>
              </a:prstGeom>
              <a:blipFill>
                <a:blip r:embed="rId2"/>
                <a:stretch>
                  <a:fillRect l="-414" t="-1152" b="-1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021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6F508-C75D-CD19-4A66-96B557A21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6751-DB6A-E291-F6B4-1E897F3BC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/>
          <a:lstStyle/>
          <a:p>
            <a:r>
              <a:rPr lang="en-GB" b="1" dirty="0"/>
              <a:t>Step 3 - Sparse Regression (LASSO)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868DAD-BE2C-8CC7-D952-77FB9BD0A0CB}"/>
                  </a:ext>
                </a:extLst>
              </p:cNvPr>
              <p:cNvSpPr txBox="1"/>
              <p:nvPr/>
            </p:nvSpPr>
            <p:spPr>
              <a:xfrm>
                <a:off x="649029" y="1526269"/>
                <a:ext cx="9920774" cy="4851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1" dirty="0"/>
                  <a:t>Goal:</a:t>
                </a:r>
                <a:r>
                  <a:rPr lang="en-GB" dirty="0"/>
                  <a:t> Recover sparse coefficients in 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𝛯</m:t>
                    </m:r>
                  </m:oMath>
                </a14:m>
                <a:r>
                  <a:rPr lang="ar-AE" dirty="0"/>
                  <a:t> </a:t>
                </a:r>
                <a:r>
                  <a:rPr lang="en-GB" dirty="0"/>
                  <a:t>so each state depends on few meaningful features.</a:t>
                </a:r>
              </a:p>
              <a:p>
                <a:endParaRPr lang="en-GB" dirty="0"/>
              </a:p>
              <a:p>
                <a:r>
                  <a:rPr lang="en-GB" b="1" dirty="0"/>
                  <a:t>Per-state problem:</a:t>
                </a:r>
                <a:r>
                  <a:rPr lang="en-GB" dirty="0"/>
                  <a:t> </a:t>
                </a:r>
              </a:p>
              <a:p>
                <a:r>
                  <a:rPr lang="en-GB" dirty="0"/>
                  <a:t>For column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 (state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),</a:t>
                </a:r>
                <a:r>
                  <a:rPr lang="ar-AE" dirty="0"/>
                  <a:t> </a:t>
                </a:r>
                <a:r>
                  <a:rPr lang="en-GB" dirty="0"/>
                  <a:t>solve</a:t>
                </a:r>
              </a:p>
              <a:p>
                <a:r>
                  <a:rPr lang="en-GB" dirty="0"/>
                  <a:t>=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</m:e>
                        </m:func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𝛩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:,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GB" dirty="0"/>
              </a:p>
              <a:p>
                <a:r>
                  <a:rPr lang="en-GB" dirty="0"/>
                  <a:t>   Stack solutions as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𝛯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endParaRPr lang="en-GB" dirty="0"/>
              </a:p>
              <a:p>
                <a:r>
                  <a:rPr lang="en-US" b="1" dirty="0"/>
                  <a:t>Why LASSO:</a:t>
                </a:r>
                <a:endParaRPr lang="en-US" dirty="0"/>
              </a:p>
              <a:p>
                <a:pPr lvl="1"/>
                <a:r>
                  <a:rPr lang="en-US" b="1" dirty="0"/>
                  <a:t>Sparsity:</a:t>
                </a:r>
                <a:r>
                  <a:rPr lang="en-US" dirty="0"/>
                  <a:t> L1 penalty drives many coefficients to zero.</a:t>
                </a:r>
              </a:p>
              <a:p>
                <a:pPr lvl="1"/>
                <a:r>
                  <a:rPr lang="en-US" b="1" dirty="0"/>
                  <a:t>Interpretability:</a:t>
                </a:r>
                <a:r>
                  <a:rPr lang="en-US" dirty="0"/>
                  <a:t> Active terms directly reveal the governing ODE structure.	</a:t>
                </a:r>
              </a:p>
              <a:p>
                <a:br>
                  <a:rPr lang="en-GB" b="1" dirty="0"/>
                </a:br>
                <a:r>
                  <a:rPr lang="en-US" b="1" dirty="0"/>
                  <a:t>Outcome:</a:t>
                </a:r>
                <a:r>
                  <a:rPr lang="en-US" dirty="0"/>
                  <a:t> </a:t>
                </a:r>
              </a:p>
              <a:p>
                <a:endParaRPr lang="en-US" dirty="0"/>
              </a:p>
              <a:p>
                <a:r>
                  <a:rPr lang="en-US" dirty="0"/>
                  <a:t>Sparse, interpretable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𝛯</m:t>
                    </m:r>
                  </m:oMath>
                </a14:m>
                <a:r>
                  <a:rPr lang="en-US" dirty="0"/>
                  <a:t> enabling accurate simulation and insight into the true dynamics.</a:t>
                </a:r>
              </a:p>
              <a:p>
                <a:endParaRPr lang="en-US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868DAD-BE2C-8CC7-D952-77FB9BD0A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29" y="1526269"/>
                <a:ext cx="9920774" cy="4851072"/>
              </a:xfrm>
              <a:prstGeom prst="rect">
                <a:avLst/>
              </a:prstGeom>
              <a:blipFill>
                <a:blip r:embed="rId2"/>
                <a:stretch>
                  <a:fillRect l="-491" t="-5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257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D216-A584-CD37-2D94-7B08CD01F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622D-3933-66BE-1C09-759B449A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>
            <a:normAutofit/>
          </a:bodyPr>
          <a:lstStyle/>
          <a:p>
            <a:r>
              <a:rPr lang="en-GB" b="1" dirty="0"/>
              <a:t>Discovered Equations</a:t>
            </a:r>
            <a:endParaRPr lang="en-GB" cap="non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46C0C6-8AB7-B71D-3692-19A8EE94DAF0}"/>
                  </a:ext>
                </a:extLst>
              </p:cNvPr>
              <p:cNvSpPr txBox="1"/>
              <p:nvPr/>
            </p:nvSpPr>
            <p:spPr>
              <a:xfrm>
                <a:off x="4463143" y="1750315"/>
                <a:ext cx="7620000" cy="3994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1" dirty="0"/>
                  <a:t>Form:</a:t>
                </a:r>
                <a:r>
                  <a:rPr lang="en-GB" dirty="0"/>
                  <a:t> For each state </a:t>
                </a:r>
                <a:r>
                  <a:rPr lang="en-GB" dirty="0" err="1"/>
                  <a:t>x_k</a:t>
                </a:r>
                <a:r>
                  <a:rPr lang="en-GB" dirty="0"/>
                  <a:t>, dynamics are a sparse combination of library terms:</a:t>
                </a:r>
              </a:p>
              <a:p>
                <a:r>
                  <a:rPr lang="en-GB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𝛯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nor/>
                      </m:rPr>
                      <a:rPr lang="ar-AE" i="1"/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𝛩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  <a:endParaRPr lang="en-US" dirty="0"/>
              </a:p>
              <a:p>
                <a:endParaRPr lang="en-US" dirty="0"/>
              </a:p>
              <a:p>
                <a:r>
                  <a:rPr lang="en-GB" b="1" dirty="0"/>
                  <a:t>Reported Terms:</a:t>
                </a:r>
                <a:r>
                  <a:rPr lang="en-GB" dirty="0"/>
                  <a:t> Only coefficients with meaningful magnitude </a:t>
                </a:r>
              </a:p>
              <a:p>
                <a:r>
                  <a:rPr lang="en-GB" dirty="0"/>
                  <a:t>(e.g., 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𝛯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∣&gt;</m:t>
                    </m:r>
                    <m:sSup>
                      <m:sSup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are shown for interpretability.</a:t>
                </a:r>
              </a:p>
              <a:p>
                <a:endParaRPr lang="en-GB" dirty="0"/>
              </a:p>
              <a:p>
                <a:r>
                  <a:rPr lang="en-GB" b="1" dirty="0"/>
                  <a:t>Reading the Model:</a:t>
                </a:r>
                <a:endParaRPr lang="en-GB" dirty="0"/>
              </a:p>
              <a:p>
                <a:pPr lvl="1"/>
                <a:r>
                  <a:rPr lang="en-GB" b="1" dirty="0"/>
                  <a:t>Sign:</a:t>
                </a:r>
                <a:r>
                  <a:rPr lang="en-GB" dirty="0"/>
                  <a:t> Positive coefficient = term accelerates in that direction; </a:t>
                </a:r>
              </a:p>
              <a:p>
                <a:pPr lvl="1"/>
                <a:r>
                  <a:rPr lang="en-GB" dirty="0"/>
                  <a:t>negative = inhibits.</a:t>
                </a:r>
              </a:p>
              <a:p>
                <a:pPr lvl="1"/>
                <a:r>
                  <a:rPr lang="en-GB" b="1" dirty="0"/>
                  <a:t>Coupling:</a:t>
                </a:r>
                <a:r>
                  <a:rPr lang="en-GB" dirty="0"/>
                  <a:t> Cross terms like x1 x2 indicate interaction between states.</a:t>
                </a:r>
              </a:p>
              <a:p>
                <a:pPr lvl="1"/>
                <a:r>
                  <a:rPr lang="en-GB" b="1" dirty="0"/>
                  <a:t>Nonlinearity:</a:t>
                </a:r>
                <a:r>
                  <a:rPr lang="en-GB" dirty="0"/>
                  <a:t> Quadratic/cubic terms capture curvature and limit-cycle behaviour.</a:t>
                </a:r>
                <a:endParaRPr lang="ar-AE" dirty="0"/>
              </a:p>
              <a:p>
                <a:pPr algn="l">
                  <a:buFont typeface="Arial" panose="020B0604020202020204" pitchFamily="34" charset="0"/>
                  <a:buChar char="•"/>
                </a:pPr>
                <a:endParaRPr lang="ar-AE" b="0" i="0" dirty="0">
                  <a:solidFill>
                    <a:srgbClr val="CCCCCC"/>
                  </a:solidFill>
                  <a:effectLst/>
                  <a:latin typeface="Segoe WPC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46C0C6-8AB7-B71D-3692-19A8EE94D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3143" y="1750315"/>
                <a:ext cx="7620000" cy="3994620"/>
              </a:xfrm>
              <a:prstGeom prst="rect">
                <a:avLst/>
              </a:prstGeom>
              <a:blipFill>
                <a:blip r:embed="rId2"/>
                <a:stretch>
                  <a:fillRect l="-640" t="-7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37832F-54BD-50D8-D3E1-3802A0C97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78" y="1547043"/>
            <a:ext cx="3688522" cy="492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24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1DF54-70BF-FAFC-A485-804414B03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107B-3CF6-4B24-94C8-71B08ED04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/>
          <a:lstStyle/>
          <a:p>
            <a:r>
              <a:rPr lang="en-GB" b="1" dirty="0"/>
              <a:t>Model Validation - Test Set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247214-02E8-18C2-8526-33CB2C978EA5}"/>
              </a:ext>
            </a:extLst>
          </p:cNvPr>
          <p:cNvSpPr txBox="1"/>
          <p:nvPr/>
        </p:nvSpPr>
        <p:spPr>
          <a:xfrm>
            <a:off x="6095999" y="2358872"/>
            <a:ext cx="60975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Per-state test MSE (x1, x2):</a:t>
            </a:r>
            <a:r>
              <a:rPr lang="en-US" dirty="0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Measures how well the sparse regression (Theta @ Xi) predicts instantaneous derivatives ẋ on held-out samples.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indicate moderate error in derivative prediction under noise.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Derivative MSE (test set):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each state k: predict </a:t>
            </a:r>
            <a:r>
              <a:rPr lang="en-US" dirty="0" err="1"/>
              <a:t>ẋ_pred</a:t>
            </a:r>
            <a:r>
              <a:rPr lang="en-US" dirty="0"/>
              <a:t> = </a:t>
            </a:r>
            <a:r>
              <a:rPr lang="en-US" dirty="0" err="1"/>
              <a:t>Theta_test</a:t>
            </a:r>
            <a:r>
              <a:rPr lang="en-US" dirty="0"/>
              <a:t> @ Xi[:, k].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 </a:t>
            </a:r>
            <a:r>
              <a:rPr lang="en-US" dirty="0" err="1"/>
              <a:t>MSE_k</a:t>
            </a:r>
            <a:r>
              <a:rPr lang="en-US" dirty="0"/>
              <a:t> = mean((</a:t>
            </a:r>
            <a:r>
              <a:rPr lang="en-US" dirty="0" err="1"/>
              <a:t>ẋ_true</a:t>
            </a:r>
            <a:r>
              <a:rPr lang="en-US" dirty="0"/>
              <a:t>[:, k] − </a:t>
            </a:r>
            <a:r>
              <a:rPr lang="en-US" dirty="0" err="1"/>
              <a:t>ẋ_pred</a:t>
            </a:r>
            <a:r>
              <a:rPr lang="en-US" dirty="0"/>
              <a:t>)²).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Report per-state and the mean across states.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EB09A0-0470-1546-D2E1-9FB2BAB04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64" y="2779634"/>
            <a:ext cx="5224045" cy="229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85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211C4-64AF-FCF0-1EDC-4845D166D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614A-4CF8-6247-C47B-589F287D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/>
          <a:lstStyle/>
          <a:p>
            <a:r>
              <a:rPr lang="en-GB" b="1" dirty="0"/>
              <a:t>Forward Predictions</a:t>
            </a:r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6D41B857-644F-B410-B094-DA8E3B00F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17" y="1700959"/>
            <a:ext cx="5130932" cy="4262620"/>
          </a:xfrm>
          <a:prstGeom prst="rect">
            <a:avLst/>
          </a:prstGeom>
        </p:spPr>
      </p:pic>
      <p:pic>
        <p:nvPicPr>
          <p:cNvPr id="6" name="Picture 5" descr="A graph of a curve&#10;&#10;AI-generated content may be incorrect.">
            <a:extLst>
              <a:ext uri="{FF2B5EF4-FFF2-40B4-BE49-F238E27FC236}">
                <a16:creationId xmlns:a16="http://schemas.microsoft.com/office/drawing/2014/main" id="{0E2E082F-7E3B-89E2-4AFA-941540E1A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446" y="1685917"/>
            <a:ext cx="5149036" cy="427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152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2070B-CC5D-6251-7631-5266A1EEE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8552-BD6B-55A5-1916-0280557C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/>
          <a:lstStyle/>
          <a:p>
            <a:r>
              <a:rPr lang="en-GB" b="1" dirty="0"/>
              <a:t>Forward Predictions</a:t>
            </a:r>
          </a:p>
        </p:txBody>
      </p:sp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71269705-7CC8-1C88-1A36-722F210DC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274" y="1624148"/>
            <a:ext cx="5207561" cy="4326281"/>
          </a:xfrm>
          <a:prstGeom prst="rect">
            <a:avLst/>
          </a:prstGeom>
        </p:spPr>
      </p:pic>
      <p:pic>
        <p:nvPicPr>
          <p:cNvPr id="8" name="Picture 7" descr="A graph of a curve&#10;&#10;AI-generated content may be incorrect.">
            <a:extLst>
              <a:ext uri="{FF2B5EF4-FFF2-40B4-BE49-F238E27FC236}">
                <a16:creationId xmlns:a16="http://schemas.microsoft.com/office/drawing/2014/main" id="{198676ED-8C8F-9944-B0A9-8E91B9751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66" y="1634427"/>
            <a:ext cx="5206108" cy="432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21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90FCC-936B-603D-16DE-941095C9F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6ECD8-5ACA-C95F-F5CE-E9A9E90D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/>
          <a:lstStyle/>
          <a:p>
            <a:r>
              <a:rPr lang="en-GB" b="1" dirty="0">
                <a:ea typeface="Calibri Light"/>
                <a:cs typeface="Calibri Light"/>
              </a:rPr>
              <a:t>Predictions for certain </a:t>
            </a:r>
            <a:r>
              <a:rPr lang="en-US" b="1" dirty="0">
                <a:ea typeface="Calibri Light"/>
                <a:cs typeface="Calibri Light"/>
              </a:rPr>
              <a:t>trajectories</a:t>
            </a:r>
            <a:endParaRPr lang="en-US" dirty="0"/>
          </a:p>
        </p:txBody>
      </p:sp>
      <p:pic>
        <p:nvPicPr>
          <p:cNvPr id="10" name="Picture 9" descr="A graph of a spiraling line&#10;&#10;AI-generated content may be incorrect.">
            <a:extLst>
              <a:ext uri="{FF2B5EF4-FFF2-40B4-BE49-F238E27FC236}">
                <a16:creationId xmlns:a16="http://schemas.microsoft.com/office/drawing/2014/main" id="{A486A37D-C482-2B30-9A5F-A332EF367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315" y="1252026"/>
            <a:ext cx="6580847" cy="534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11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10F97-0A4D-BE49-FAD9-4B032C4B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4BF0-1D8F-8000-084A-4C16EF0F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/>
          <a:lstStyle/>
          <a:p>
            <a:r>
              <a:rPr lang="en-GB" b="1" dirty="0">
                <a:ea typeface="Calibri Light"/>
                <a:cs typeface="Calibri Light"/>
              </a:rPr>
              <a:t>Predictions of the System after N=200</a:t>
            </a:r>
            <a:endParaRPr lang="en-US" dirty="0"/>
          </a:p>
        </p:txBody>
      </p:sp>
      <p:pic>
        <p:nvPicPr>
          <p:cNvPr id="5" name="Picture 4" descr="A colorful swirly lines on a white background&#10;&#10;AI-generated content may be incorrect.">
            <a:extLst>
              <a:ext uri="{FF2B5EF4-FFF2-40B4-BE49-F238E27FC236}">
                <a16:creationId xmlns:a16="http://schemas.microsoft.com/office/drawing/2014/main" id="{C9F75565-9657-F4D3-F613-B8AE0DC6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138" y="1169811"/>
            <a:ext cx="6580846" cy="546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0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B54A6-BC26-D57F-440C-9BA9AF7ED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a spiraling line&#10;&#10;AI-generated content may be incorrect.">
            <a:extLst>
              <a:ext uri="{FF2B5EF4-FFF2-40B4-BE49-F238E27FC236}">
                <a16:creationId xmlns:a16="http://schemas.microsoft.com/office/drawing/2014/main" id="{A98DB58D-FE9C-9494-6E59-24CA39137B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72" y="169"/>
            <a:ext cx="12196061" cy="68709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5B1D6F-91D7-86B6-0C08-526EB2BC9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/>
          <a:lstStyle/>
          <a:p>
            <a:r>
              <a:rPr lang="en-GB" b="1" dirty="0"/>
              <a:t>Model Validation – Test Overall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55BEC-86D3-3835-16D0-BE76355F99B9}"/>
              </a:ext>
            </a:extLst>
          </p:cNvPr>
          <p:cNvSpPr txBox="1"/>
          <p:nvPr/>
        </p:nvSpPr>
        <p:spPr>
          <a:xfrm>
            <a:off x="2581274" y="1518958"/>
            <a:ext cx="82772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highlight>
                  <a:srgbClr val="FFFFFF"/>
                </a:highlight>
                <a:latin typeface="Consolas"/>
              </a:rPr>
              <a:t>Mean trajectory MSE: 0.00029191414088577033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0AF0C-D707-B5D5-6608-8615A5309447}"/>
              </a:ext>
            </a:extLst>
          </p:cNvPr>
          <p:cNvSpPr txBox="1"/>
          <p:nvPr/>
        </p:nvSpPr>
        <p:spPr>
          <a:xfrm>
            <a:off x="562491" y="2622623"/>
            <a:ext cx="10535554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/>
              <a:t>This MSE is computed by comparing true vs. predicted trajectories over a 100-step horizon.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We used 20 randomly selected initial conditions not seen during training of this model.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We observe that the average error remains very low despite noisy real data.</a:t>
            </a:r>
            <a:endParaRPr lang="en-US" sz="20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The result indicates that the learned </a:t>
            </a:r>
            <a:r>
              <a:rPr lang="en-US" sz="2000" dirty="0" err="1"/>
              <a:t>SINDy</a:t>
            </a:r>
            <a:r>
              <a:rPr lang="en-US" sz="2000" dirty="0"/>
              <a:t> model generalizes well and does not overfit.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Hence, it confirms that the discovered ODE closely captures the underlying system dynamics. </a:t>
            </a:r>
            <a:endParaRPr lang="en-US" sz="2000" dirty="0">
              <a:ea typeface="Calibri"/>
              <a:cs typeface="Calibri"/>
            </a:endParaRPr>
          </a:p>
          <a:p>
            <a:pPr marL="285750" indent="-285750" algn="l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7720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D08D4-AD39-5BFF-A0FC-18AF088A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spiraling line&#10;&#10;AI-generated content may be incorrect.">
            <a:extLst>
              <a:ext uri="{FF2B5EF4-FFF2-40B4-BE49-F238E27FC236}">
                <a16:creationId xmlns:a16="http://schemas.microsoft.com/office/drawing/2014/main" id="{E57335D2-0CEF-897B-3076-CE278A7822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72" y="169"/>
            <a:ext cx="12196061" cy="68709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62FD9B-02A1-2AE1-4757-9AF29F97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20" y="195536"/>
            <a:ext cx="11569959" cy="1325563"/>
          </a:xfrm>
        </p:spPr>
        <p:txBody>
          <a:bodyPr/>
          <a:lstStyle/>
          <a:p>
            <a:r>
              <a:rPr lang="en-GB" b="1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56CF3-279C-0CEF-9321-05D9C409EEE3}"/>
              </a:ext>
            </a:extLst>
          </p:cNvPr>
          <p:cNvSpPr txBox="1"/>
          <p:nvPr/>
        </p:nvSpPr>
        <p:spPr>
          <a:xfrm>
            <a:off x="911421" y="1720629"/>
            <a:ext cx="10063841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/>
              <a:t>The </a:t>
            </a:r>
            <a:r>
              <a:rPr lang="en-US" sz="2000" dirty="0" err="1"/>
              <a:t>SINDy</a:t>
            </a:r>
            <a:r>
              <a:rPr lang="en-US" sz="2000" dirty="0"/>
              <a:t> framework successfully discovered a simple, interpretable ODE from raw trajectory data.</a:t>
            </a: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The learned model reproduced the system’s nonlinear, inward-spiraling dynamics with high accuracy.</a:t>
            </a: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Forward predictions closely matched the true trajectories across multiple unseen initial conditions.</a:t>
            </a: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The low mean trajectory MSE (approx. 0.00029) confirms strong predictive performance and good generalization.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This demonstrates the effectiveness of sparse regression methods in recovering governing equations directly from data.</a:t>
            </a:r>
            <a:endParaRPr lang="en-US" sz="2000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6168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E89CC-4929-2EFF-6F87-840305C01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7965D-292B-9E68-32BE-A34DF132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162" y="2762750"/>
            <a:ext cx="669860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ea typeface="Calibri Light"/>
                <a:cs typeface="Calibri Light"/>
              </a:rPr>
              <a:t>We are now open to questions. </a:t>
            </a:r>
            <a:br>
              <a:rPr lang="en-GB" b="1" dirty="0">
                <a:ea typeface="Calibri Light"/>
                <a:cs typeface="Calibri Light"/>
              </a:rPr>
            </a:br>
            <a:br>
              <a:rPr lang="en-GB" b="1" dirty="0">
                <a:ea typeface="Calibri Light"/>
                <a:cs typeface="Calibri Light"/>
              </a:rPr>
            </a:br>
            <a:br>
              <a:rPr lang="en-GB" b="1" dirty="0">
                <a:ea typeface="Calibri Light"/>
                <a:cs typeface="Calibri Light"/>
              </a:rPr>
            </a:br>
            <a:br>
              <a:rPr lang="en-GB" b="1" dirty="0">
                <a:ea typeface="Calibri Light"/>
                <a:cs typeface="Calibri Light"/>
              </a:rPr>
            </a:br>
            <a:r>
              <a:rPr lang="en-GB" b="1" dirty="0">
                <a:ea typeface="Calibri Light"/>
                <a:cs typeface="Calibri Light"/>
              </a:rPr>
              <a:t>Thank you </a:t>
            </a:r>
            <a:r>
              <a:rPr lang="en-GB" b="1" dirty="0">
                <a:ea typeface="Calibri Light"/>
                <a:cs typeface="Calibri Light"/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6193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</TotalTime>
  <Words>1102</Words>
  <Application>Microsoft Office PowerPoint</Application>
  <PresentationFormat>Widescreen</PresentationFormat>
  <Paragraphs>157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Consolas</vt:lpstr>
      <vt:lpstr>Gill Sans MT</vt:lpstr>
      <vt:lpstr>Segoe UI</vt:lpstr>
      <vt:lpstr>Segoe WPC</vt:lpstr>
      <vt:lpstr>Wingdings</vt:lpstr>
      <vt:lpstr>Office Theme</vt:lpstr>
      <vt:lpstr>Gallery</vt:lpstr>
      <vt:lpstr>Data science for dynamical system</vt:lpstr>
      <vt:lpstr>Problem Statement</vt:lpstr>
      <vt:lpstr>Exploratory Data Visualization</vt:lpstr>
      <vt:lpstr>Exploratory Data Visualization</vt:lpstr>
      <vt:lpstr>Exploratory Data Visualization</vt:lpstr>
      <vt:lpstr>Exploratory Data Visualization</vt:lpstr>
      <vt:lpstr>Exploratory Data Visualization</vt:lpstr>
      <vt:lpstr>Exploratory Data Visualization</vt:lpstr>
      <vt:lpstr>Exploratory Data Visualization</vt:lpstr>
      <vt:lpstr>Exploratory Data Visualization</vt:lpstr>
      <vt:lpstr>Exploratory Data Visualization</vt:lpstr>
      <vt:lpstr>SINDy Methodology Overview</vt:lpstr>
      <vt:lpstr>Step 1 - Derivative Estimation</vt:lpstr>
      <vt:lpstr>Step 2 - Library Construction</vt:lpstr>
      <vt:lpstr>Step 3 - Sparse Regression (LASSO)</vt:lpstr>
      <vt:lpstr>Discovered Equations</vt:lpstr>
      <vt:lpstr>Model Validation - Test Set Performance</vt:lpstr>
      <vt:lpstr>Forward Predictions</vt:lpstr>
      <vt:lpstr>Forward Predictions</vt:lpstr>
      <vt:lpstr>Predictions for certain trajectories</vt:lpstr>
      <vt:lpstr>Predictions of the System after N=200</vt:lpstr>
      <vt:lpstr>Model Validation – Test Overall Performance</vt:lpstr>
      <vt:lpstr>Conclusion</vt:lpstr>
      <vt:lpstr>We are now open to questions.     Thank 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Tensor Ghost</dc:creator>
  <cp:lastModifiedBy>Tensor Ghost</cp:lastModifiedBy>
  <cp:revision>113</cp:revision>
  <dcterms:created xsi:type="dcterms:W3CDTF">2025-12-15T13:15:06Z</dcterms:created>
  <dcterms:modified xsi:type="dcterms:W3CDTF">2025-12-15T23:46:43Z</dcterms:modified>
</cp:coreProperties>
</file>